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7" r:id="rId2"/>
    <p:sldId id="324" r:id="rId3"/>
    <p:sldId id="300" r:id="rId4"/>
    <p:sldId id="326" r:id="rId5"/>
    <p:sldId id="327" r:id="rId6"/>
    <p:sldId id="329" r:id="rId7"/>
    <p:sldId id="347" r:id="rId8"/>
    <p:sldId id="348" r:id="rId9"/>
    <p:sldId id="330" r:id="rId10"/>
    <p:sldId id="343" r:id="rId11"/>
    <p:sldId id="344" r:id="rId12"/>
    <p:sldId id="331" r:id="rId13"/>
    <p:sldId id="345" r:id="rId14"/>
    <p:sldId id="332" r:id="rId15"/>
    <p:sldId id="346" r:id="rId16"/>
    <p:sldId id="333" r:id="rId17"/>
    <p:sldId id="334" r:id="rId18"/>
    <p:sldId id="335" r:id="rId19"/>
    <p:sldId id="336" r:id="rId20"/>
    <p:sldId id="337" r:id="rId21"/>
    <p:sldId id="339" r:id="rId22"/>
    <p:sldId id="338" r:id="rId23"/>
    <p:sldId id="340" r:id="rId24"/>
    <p:sldId id="341" r:id="rId25"/>
    <p:sldId id="342" r:id="rId26"/>
    <p:sldId id="278" r:id="rId27"/>
  </p:sldIdLst>
  <p:sldSz cx="9144000" cy="6858000" type="screen4x3"/>
  <p:notesSz cx="6805613" cy="9939338"/>
  <p:embeddedFontLst>
    <p:embeddedFont>
      <p:font typeface="맑은 고딕" panose="020B0503020000020004" pitchFamily="50" charset="-127"/>
      <p:regular r:id="rId30"/>
      <p:bold r:id="rId31"/>
    </p:embeddedFont>
    <p:embeddedFont>
      <p:font typeface="나눔고딕" panose="020B0600000101010101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orient="horz" pos="1164">
          <p15:clr>
            <a:srgbClr val="A4A3A4"/>
          </p15:clr>
        </p15:guide>
        <p15:guide id="3" orient="horz" pos="278">
          <p15:clr>
            <a:srgbClr val="A4A3A4"/>
          </p15:clr>
        </p15:guide>
        <p15:guide id="4" orient="horz" pos="848">
          <p15:clr>
            <a:srgbClr val="A4A3A4"/>
          </p15:clr>
        </p15:guide>
        <p15:guide id="5" orient="horz" pos="1348">
          <p15:clr>
            <a:srgbClr val="A4A3A4"/>
          </p15:clr>
        </p15:guide>
        <p15:guide id="6" orient="horz" pos="559">
          <p15:clr>
            <a:srgbClr val="A4A3A4"/>
          </p15:clr>
        </p15:guide>
        <p15:guide id="7" orient="horz" pos="3866">
          <p15:clr>
            <a:srgbClr val="A4A3A4"/>
          </p15:clr>
        </p15:guide>
        <p15:guide id="8" orient="horz" pos="1664">
          <p15:clr>
            <a:srgbClr val="A4A3A4"/>
          </p15:clr>
        </p15:guide>
        <p15:guide id="9" pos="2894">
          <p15:clr>
            <a:srgbClr val="A4A3A4"/>
          </p15:clr>
        </p15:guide>
        <p15:guide id="10" pos="5528">
          <p15:clr>
            <a:srgbClr val="A4A3A4"/>
          </p15:clr>
        </p15:guide>
        <p15:guide id="11" pos="230">
          <p15:clr>
            <a:srgbClr val="A4A3A4"/>
          </p15:clr>
        </p15:guide>
        <p15:guide id="12" pos="1562">
          <p15:clr>
            <a:srgbClr val="A4A3A4"/>
          </p15:clr>
        </p15:guide>
        <p15:guide id="13" pos="4226">
          <p15:clr>
            <a:srgbClr val="A4A3A4"/>
          </p15:clr>
        </p15:guide>
        <p15:guide id="14" pos="900">
          <p15:clr>
            <a:srgbClr val="A4A3A4"/>
          </p15:clr>
        </p15:guide>
        <p15:guide id="15" pos="4910">
          <p15:clr>
            <a:srgbClr val="A4A3A4"/>
          </p15:clr>
        </p15:guide>
        <p15:guide id="16" pos="12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AFF"/>
    <a:srgbClr val="1D314E"/>
    <a:srgbClr val="3D3C3E"/>
    <a:srgbClr val="063656"/>
    <a:srgbClr val="08456E"/>
    <a:srgbClr val="569CF0"/>
    <a:srgbClr val="8DBDF7"/>
    <a:srgbClr val="47B0FF"/>
    <a:srgbClr val="E3EAF5"/>
    <a:srgbClr val="DD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6" autoAdjust="0"/>
    <p:restoredTop sz="67654" autoAdjust="0"/>
  </p:normalViewPr>
  <p:slideViewPr>
    <p:cSldViewPr snapToGrid="0">
      <p:cViewPr varScale="1">
        <p:scale>
          <a:sx n="59" d="100"/>
          <a:sy n="59" d="100"/>
        </p:scale>
        <p:origin x="2136" y="58"/>
      </p:cViewPr>
      <p:guideLst>
        <p:guide orient="horz" pos="2166"/>
        <p:guide orient="horz" pos="1164"/>
        <p:guide orient="horz" pos="278"/>
        <p:guide orient="horz" pos="848"/>
        <p:guide orient="horz" pos="1348"/>
        <p:guide orient="horz" pos="559"/>
        <p:guide orient="horz" pos="3866"/>
        <p:guide orient="horz" pos="1664"/>
        <p:guide pos="2894"/>
        <p:guide pos="5528"/>
        <p:guide pos="230"/>
        <p:guide pos="1562"/>
        <p:guide pos="4226"/>
        <p:guide pos="900"/>
        <p:guide pos="4910"/>
        <p:guide pos="123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28" y="-90"/>
      </p:cViewPr>
      <p:guideLst>
        <p:guide orient="horz" pos="3131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207F23D9-DF40-4811-9C78-A2E2A32398DD}" type="datetimeFigureOut">
              <a:rPr lang="ko-KR" altLang="en-US" smtClean="0"/>
              <a:pPr/>
              <a:t>2016-11-29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4DD6E7B0-61C4-474B-96F1-99E4547EAD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599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F3AF6795-A612-454E-AF7A-9192B1BEBB13}" type="datetimeFigureOut">
              <a:rPr lang="ko-KR" altLang="en-US" smtClean="0"/>
              <a:pPr/>
              <a:t>2016-11-29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A0A51D67-0C14-4576-BCC5-A508196B7BB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30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160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392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412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586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328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17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983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98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498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28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221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359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628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58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4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300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6286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458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0859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175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195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63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21087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123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hangeul.naver.com/font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부제목 2"/>
          <p:cNvSpPr txBox="1">
            <a:spLocks/>
          </p:cNvSpPr>
          <p:nvPr userDrawn="1"/>
        </p:nvSpPr>
        <p:spPr>
          <a:xfrm>
            <a:off x="264463" y="6387291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나눔글꼴로 작성되었습니다</a:t>
            </a:r>
            <a:r>
              <a:rPr lang="en-US" altLang="ko-KR" sz="800" spc="-2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20" dirty="0" smtClean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2"/>
              </a:rPr>
              <a:t>설치하기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64803" y="3989119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64803" y="4299115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364803" y="4611730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64803" y="4923517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cosmetic2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72671" y="6410326"/>
            <a:ext cx="1171292" cy="1762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59369-D0C7-43CE-8D32-A01EDCA5DFBB}" type="datetime1">
              <a:rPr lang="ko-KR" altLang="en-US" smtClean="0"/>
              <a:t>2016-11-29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cosmetic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64803" y="3989119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364803" y="4299115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64803" y="4611730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364803" y="4923517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cosmetic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672671" y="6410326"/>
            <a:ext cx="1171292" cy="176212"/>
          </a:xfrm>
          <a:prstGeom prst="rect">
            <a:avLst/>
          </a:prstGeom>
        </p:spPr>
      </p:pic>
      <p:sp>
        <p:nvSpPr>
          <p:cNvPr id="18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12059" y="246743"/>
            <a:ext cx="8338457" cy="1851478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5400" b="1" spc="-250" baseline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제목을 입력하세요</a:t>
            </a:r>
            <a:endParaRPr lang="en-US" altLang="ko-KR" dirty="0" smtClean="0"/>
          </a:p>
          <a:p>
            <a:pPr lvl="0"/>
            <a:endParaRPr lang="ko-KR" altLang="en-US" dirty="0" smtClean="0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268519" y="4005064"/>
            <a:ext cx="8418281" cy="304826"/>
          </a:xfrm>
        </p:spPr>
        <p:txBody>
          <a:bodyPr anchor="t">
            <a:normAutofit/>
          </a:bodyPr>
          <a:lstStyle>
            <a:lvl1pPr algn="l">
              <a:buFont typeface="Wingdings" pitchFamily="2" charset="2"/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4" name="부제목 2"/>
          <p:cNvSpPr txBox="1">
            <a:spLocks/>
          </p:cNvSpPr>
          <p:nvPr userDrawn="1"/>
        </p:nvSpPr>
        <p:spPr>
          <a:xfrm>
            <a:off x="264463" y="6387291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나눔글꼴로 작성되었습니다</a:t>
            </a:r>
            <a:r>
              <a:rPr lang="en-US" altLang="ko-KR" sz="800" spc="-20" dirty="0" smtClean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20" dirty="0" smtClean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A93E1-7AC0-433A-8429-C741EA20FF4F}" type="datetime1">
              <a:rPr lang="ko-KR" altLang="en-US" smtClean="0"/>
              <a:t>2016-11-29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cosmetic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368300" y="571500"/>
            <a:ext cx="8394700" cy="8461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4" name="내용 개체 틀 2"/>
          <p:cNvSpPr>
            <a:spLocks noGrp="1"/>
          </p:cNvSpPr>
          <p:nvPr>
            <p:ph idx="1" hasCustomPrompt="1"/>
          </p:nvPr>
        </p:nvSpPr>
        <p:spPr>
          <a:xfrm>
            <a:off x="368300" y="1574801"/>
            <a:ext cx="1905000" cy="317499"/>
          </a:xfrm>
        </p:spPr>
        <p:txBody>
          <a:bodyPr>
            <a:normAutofit/>
          </a:bodyPr>
          <a:lstStyle>
            <a:lvl1pPr>
              <a:buFontTx/>
              <a:buNone/>
              <a:defRPr sz="1200" b="1">
                <a:solidFill>
                  <a:srgbClr val="3D3C3E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200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/>
            <a:r>
              <a:rPr lang="ko-KR" altLang="en-US" smtClean="0"/>
              <a:t>내용제목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3" hasCustomPrompt="1"/>
          </p:nvPr>
        </p:nvSpPr>
        <p:spPr>
          <a:xfrm>
            <a:off x="2336800" y="1574801"/>
            <a:ext cx="6426200" cy="330199"/>
          </a:xfrm>
        </p:spPr>
        <p:txBody>
          <a:bodyPr>
            <a:normAutofit/>
          </a:bodyPr>
          <a:lstStyle>
            <a:lvl1pPr>
              <a:buNone/>
              <a:defRPr sz="1200" b="1" baseline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smtClean="0"/>
              <a:t>내용을 입력하십시오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51D95-DE1E-44A6-86CE-386E600A8DD6}" type="datetime1">
              <a:rPr lang="ko-KR" altLang="en-US" smtClean="0"/>
              <a:t>2016-11-29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B51D9B34-6BF1-4FB2-8DBC-8ADEDB2B6138}" type="datetime1">
              <a:rPr lang="ko-KR" altLang="en-US" smtClean="0"/>
              <a:t>2016-11-29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  <a:lvl2pPr>
              <a:defRPr>
                <a:latin typeface="나눔고딕" pitchFamily="50" charset="-127"/>
                <a:ea typeface="나눔고딕" pitchFamily="50" charset="-127"/>
              </a:defRPr>
            </a:lvl2pPr>
            <a:lvl3pPr>
              <a:defRPr>
                <a:latin typeface="나눔고딕" pitchFamily="50" charset="-127"/>
                <a:ea typeface="나눔고딕" pitchFamily="50" charset="-127"/>
              </a:defRPr>
            </a:lvl3pPr>
            <a:lvl4pPr>
              <a:defRPr>
                <a:latin typeface="나눔고딕" pitchFamily="50" charset="-127"/>
                <a:ea typeface="나눔고딕" pitchFamily="50" charset="-127"/>
              </a:defRPr>
            </a:lvl4pPr>
            <a:lvl5pPr>
              <a:defRPr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153E3804-DC6A-48E3-844D-A5A6836608CB}" type="datetime1">
              <a:rPr lang="ko-KR" altLang="en-US" smtClean="0"/>
              <a:t>2016-11-29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89DFFCB3-36CB-4F04-B289-00D6017BA6A5}" type="datetime1">
              <a:rPr lang="ko-KR" altLang="en-US" smtClean="0"/>
              <a:t>2016-11-29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4" r:id="rId3"/>
    <p:sldLayoutId id="2147483673" r:id="rId4"/>
    <p:sldLayoutId id="2147483676" r:id="rId5"/>
    <p:sldLayoutId id="2147483661" r:id="rId6"/>
    <p:sldLayoutId id="2147483662" r:id="rId7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53649"/>
            <a:ext cx="8230194" cy="1969017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sz="5400" b="1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AzureML</a:t>
            </a:r>
            <a:r>
              <a:rPr lang="ko-KR" altLang="en-US" sz="5400" b="1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로 시작하는</a:t>
            </a:r>
            <a:r>
              <a:rPr lang="en-US" altLang="ko-KR" sz="5400" b="1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/>
            </a:r>
            <a:br>
              <a:rPr lang="en-US" altLang="ko-KR" sz="5400" b="1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</a:br>
            <a:r>
              <a:rPr lang="en-US" altLang="ko-KR" sz="5400" b="1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Machine Learning</a:t>
            </a:r>
            <a:endParaRPr lang="ko-KR" altLang="en-US" b="1" spc="-250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933555" y="5503825"/>
            <a:ext cx="3925205" cy="575957"/>
          </a:xfrm>
          <a:ln>
            <a:noFill/>
          </a:ln>
        </p:spPr>
        <p:txBody>
          <a:bodyPr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600" b="1" spc="-5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Microsoft Student Partner </a:t>
            </a:r>
          </a:p>
          <a:p>
            <a:pPr algn="r">
              <a:lnSpc>
                <a:spcPct val="150000"/>
              </a:lnSpc>
            </a:pPr>
            <a:r>
              <a:rPr lang="en-US" altLang="ko-KR" sz="1600" b="1" spc="-5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KAIST </a:t>
            </a:r>
            <a:r>
              <a:rPr lang="ko-KR" altLang="en-US" sz="1600" b="1" spc="-5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정태영</a:t>
            </a:r>
            <a:endParaRPr lang="en-US" altLang="ko-KR" sz="1600" b="1" spc="-5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37372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lt"/>
              </a:rPr>
              <a:t>Session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717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smtClean="0"/>
              <a:t>Session 1 : Introduction to Introduction to ML</a:t>
            </a:r>
            <a:br>
              <a:rPr lang="en-US" altLang="ko-KR" sz="2800" smtClean="0"/>
            </a:br>
            <a:r>
              <a:rPr lang="en-US" altLang="ko-KR" sz="2800" smtClean="0"/>
              <a:t/>
            </a:r>
            <a:br>
              <a:rPr lang="en-US" altLang="ko-KR" sz="2800" smtClean="0"/>
            </a:br>
            <a:r>
              <a:rPr lang="ko-KR" altLang="en-US" sz="2800" smtClean="0"/>
              <a:t>머신러닝의 기초의 기초에 대해 배웁니다</a:t>
            </a:r>
            <a:r>
              <a:rPr lang="en-US" altLang="ko-KR" sz="2800" smtClean="0"/>
              <a:t>.</a:t>
            </a:r>
          </a:p>
          <a:p>
            <a:endParaRPr lang="en-US" altLang="ko-KR" sz="2800" smtClean="0"/>
          </a:p>
          <a:p>
            <a:r>
              <a:rPr lang="en-US" altLang="ko-KR" sz="2800" smtClean="0"/>
              <a:t>Session 2 : Azure Machine Learning </a:t>
            </a:r>
            <a:r>
              <a:rPr lang="ko-KR" altLang="en-US" sz="2800" smtClean="0"/>
              <a:t>맛보기</a:t>
            </a:r>
            <a:r>
              <a:rPr lang="en-US" altLang="ko-KR" sz="2800" smtClean="0"/>
              <a:t/>
            </a:r>
            <a:br>
              <a:rPr lang="en-US" altLang="ko-KR" sz="2800" smtClean="0"/>
            </a:br>
            <a:r>
              <a:rPr lang="en-US" altLang="ko-KR" sz="2800" smtClean="0"/>
              <a:t/>
            </a:r>
            <a:br>
              <a:rPr lang="en-US" altLang="ko-KR" sz="2800" smtClean="0"/>
            </a:br>
            <a:r>
              <a:rPr lang="en-US" altLang="ko-KR" sz="2800" smtClean="0"/>
              <a:t>Azure ML studio</a:t>
            </a:r>
            <a:r>
              <a:rPr lang="ko-KR" altLang="en-US" sz="2800" smtClean="0"/>
              <a:t>를 통해 붓꽃을 분류하는</a:t>
            </a:r>
            <a:r>
              <a:rPr lang="en-US" altLang="ko-KR" sz="2800"/>
              <a:t/>
            </a:r>
            <a:br>
              <a:rPr lang="en-US" altLang="ko-KR" sz="2800"/>
            </a:br>
            <a:r>
              <a:rPr lang="ko-KR" altLang="en-US" sz="2800" smtClean="0"/>
              <a:t>머신 러닝 프로그램을 만들어봅니다</a:t>
            </a:r>
            <a:r>
              <a:rPr lang="en-US" altLang="ko-KR" sz="2800" smtClean="0"/>
              <a:t>.</a:t>
            </a:r>
          </a:p>
          <a:p>
            <a:endParaRPr lang="ko-KR" altLang="en-US" sz="2000" dirty="0" smtClean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55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lt"/>
              </a:rPr>
              <a:t>Azure ML?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smtClean="0">
                <a:latin typeface="+mj-lt"/>
              </a:rPr>
              <a:t>Microsoft</a:t>
            </a:r>
            <a:r>
              <a:rPr lang="ko-KR" altLang="en-US" sz="2800" smtClean="0">
                <a:latin typeface="+mj-lt"/>
              </a:rPr>
              <a:t>에서 제공하는 </a:t>
            </a:r>
            <a:r>
              <a:rPr lang="en-US" altLang="ko-KR" sz="2800" smtClean="0">
                <a:latin typeface="+mj-lt"/>
              </a:rPr>
              <a:t>ML</a:t>
            </a:r>
            <a:r>
              <a:rPr lang="ko-KR" altLang="en-US" sz="2800" smtClean="0">
                <a:latin typeface="+mj-lt"/>
              </a:rPr>
              <a:t> 솔루션 클라우드</a:t>
            </a:r>
            <a:endParaRPr lang="en-US" altLang="ko-KR" sz="2800" smtClean="0">
              <a:latin typeface="+mj-lt"/>
            </a:endParaRPr>
          </a:p>
          <a:p>
            <a:r>
              <a:rPr lang="ko-KR" altLang="en-US" sz="2800" smtClean="0">
                <a:solidFill>
                  <a:srgbClr val="3D3C3E"/>
                </a:solidFill>
                <a:latin typeface="+mj-lt"/>
              </a:rPr>
              <a:t>드래그</a:t>
            </a:r>
            <a:r>
              <a:rPr lang="en-US" altLang="ko-KR" sz="2800" smtClean="0">
                <a:solidFill>
                  <a:srgbClr val="3D3C3E"/>
                </a:solidFill>
                <a:latin typeface="+mj-lt"/>
              </a:rPr>
              <a:t>&amp;</a:t>
            </a:r>
            <a:r>
              <a:rPr lang="ko-KR" altLang="en-US" sz="2800" smtClean="0">
                <a:solidFill>
                  <a:srgbClr val="3D3C3E"/>
                </a:solidFill>
                <a:latin typeface="+mj-lt"/>
              </a:rPr>
              <a:t>드롭</a:t>
            </a:r>
            <a:endParaRPr lang="en-US" altLang="ko-KR" sz="2800" smtClean="0">
              <a:solidFill>
                <a:srgbClr val="3D3C3E"/>
              </a:solidFill>
              <a:latin typeface="+mj-lt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j-lt"/>
              </a:rPr>
              <a:t>Supervised / Unsupervised Learning </a:t>
            </a:r>
            <a:r>
              <a:rPr lang="ko-KR" altLang="en-US" sz="2800" smtClean="0">
                <a:solidFill>
                  <a:srgbClr val="3D3C3E"/>
                </a:solidFill>
                <a:latin typeface="+mj-lt"/>
              </a:rPr>
              <a:t>지원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26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예제 실습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붓꽃의 특성값을 이용해 종 분류하기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데이터의 구성은 다음과 같음</a:t>
            </a:r>
            <a:r>
              <a:rPr lang="en-US" altLang="ko-KR" sz="280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>
                <a:solidFill>
                  <a:srgbClr val="3D3C3E"/>
                </a:solidFill>
                <a:latin typeface="+mn-ea"/>
              </a:rPr>
            </a:b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1)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꽃받침의 길이</a:t>
            </a:r>
            <a:r>
              <a:rPr lang="en-US" altLang="ko-KR" sz="280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>
                <a:solidFill>
                  <a:srgbClr val="3D3C3E"/>
                </a:solidFill>
                <a:latin typeface="+mn-ea"/>
              </a:rPr>
            </a:b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2)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꽃받침의 너비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 smtClean="0">
                <a:solidFill>
                  <a:srgbClr val="3D3C3E"/>
                </a:solidFill>
                <a:latin typeface="+mn-ea"/>
              </a:rPr>
            </a:b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3)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꽃잎의 길이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 smtClean="0">
                <a:solidFill>
                  <a:srgbClr val="3D3C3E"/>
                </a:solidFill>
                <a:latin typeface="+mn-ea"/>
              </a:rPr>
            </a:b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4)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꽃잎의 너비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90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예제 실습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26" name="Picture 2" descr="https://upload.wikimedia.org/wikipedia/commons/thumb/5/56/Kosaciec_szczecinkowaty_Iris_setosa.jpg/800px-Kosaciec_szczecinkowaty_Iris_setos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3" y="1722549"/>
            <a:ext cx="2175597" cy="290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/>
          <p:cNvSpPr txBox="1">
            <a:spLocks/>
          </p:cNvSpPr>
          <p:nvPr/>
        </p:nvSpPr>
        <p:spPr>
          <a:xfrm>
            <a:off x="751986" y="5627451"/>
            <a:ext cx="1918822" cy="5120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b="1" smtClean="0">
                <a:solidFill>
                  <a:srgbClr val="3D3C3E"/>
                </a:solidFill>
                <a:latin typeface="+mn-ea"/>
              </a:rPr>
              <a:t>Iris setosa</a:t>
            </a:r>
          </a:p>
        </p:txBody>
      </p:sp>
      <p:pic>
        <p:nvPicPr>
          <p:cNvPr id="3074" name="Picture 2" descr="https://upload.wikimedia.org/wikipedia/commons/thumb/4/41/Iris_versicolor_3.jpg/1024px-Iris_versicolor_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167" y="1722549"/>
            <a:ext cx="2771656" cy="207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6229477" y="5627451"/>
            <a:ext cx="2377440" cy="5120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b="1" smtClean="0">
                <a:solidFill>
                  <a:srgbClr val="3D3C3E"/>
                </a:solidFill>
                <a:latin typeface="+mn-ea"/>
              </a:rPr>
              <a:t>Iris virginica</a:t>
            </a:r>
          </a:p>
        </p:txBody>
      </p:sp>
      <p:pic>
        <p:nvPicPr>
          <p:cNvPr id="3076" name="Picture 4" descr="https://upload.wikimedia.org/wikipedia/commons/thumb/9/9f/Iris_virginica.jpg/1024px-Iris_virginica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591" y="1722549"/>
            <a:ext cx="2705212" cy="220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3186974" y="5627451"/>
            <a:ext cx="2526336" cy="5120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b="1" smtClean="0">
                <a:solidFill>
                  <a:srgbClr val="3D3C3E"/>
                </a:solidFill>
                <a:latin typeface="+mn-ea"/>
              </a:rPr>
              <a:t>Iris versicolor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55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1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접속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Azureml.com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접속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8-hour trial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30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1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접속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Azureml.com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접속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8-hour trial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808" y="2794090"/>
            <a:ext cx="6439989" cy="1672553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01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1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접속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Azureml.com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접속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8-hour trial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26" y="2762858"/>
            <a:ext cx="7088284" cy="3851020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30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2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실험 생성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 아래의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+ new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버튼 클릭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Blank Experiment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10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2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실험 생성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64803" y="1751282"/>
            <a:ext cx="8406000" cy="4250933"/>
            <a:chOff x="256544" y="1631109"/>
            <a:chExt cx="8618490" cy="426208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6544" y="1631109"/>
              <a:ext cx="8618490" cy="4262088"/>
            </a:xfrm>
            <a:prstGeom prst="rect">
              <a:avLst/>
            </a:prstGeom>
          </p:spPr>
        </p:pic>
        <p:sp>
          <p:nvSpPr>
            <p:cNvPr id="5" name="아래쪽 화살표 4"/>
            <p:cNvSpPr/>
            <p:nvPr/>
          </p:nvSpPr>
          <p:spPr>
            <a:xfrm rot="3853228">
              <a:off x="1267097" y="4339598"/>
              <a:ext cx="744582" cy="1698171"/>
            </a:xfrm>
            <a:prstGeom prst="downArrow">
              <a:avLst>
                <a:gd name="adj1" fmla="val 25438"/>
                <a:gd name="adj2" fmla="val 5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49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2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실험 생성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56544" y="1764722"/>
            <a:ext cx="8514259" cy="4167155"/>
            <a:chOff x="2033092" y="1832691"/>
            <a:chExt cx="8618490" cy="426884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3092" y="1832691"/>
              <a:ext cx="8618490" cy="4268846"/>
            </a:xfrm>
            <a:prstGeom prst="rect">
              <a:avLst/>
            </a:prstGeom>
          </p:spPr>
        </p:pic>
        <p:sp>
          <p:nvSpPr>
            <p:cNvPr id="11" name="아래쪽 화살표 10"/>
            <p:cNvSpPr/>
            <p:nvPr/>
          </p:nvSpPr>
          <p:spPr>
            <a:xfrm rot="3853228">
              <a:off x="4659086" y="2983626"/>
              <a:ext cx="744582" cy="1698171"/>
            </a:xfrm>
            <a:prstGeom prst="downArrow">
              <a:avLst>
                <a:gd name="adj1" fmla="val 25438"/>
                <a:gd name="adj2" fmla="val 5000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11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3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데이터 로딩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Data Input and Output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 smtClean="0">
                <a:solidFill>
                  <a:srgbClr val="3D3C3E"/>
                </a:solidFill>
                <a:latin typeface="+mn-ea"/>
              </a:rPr>
            </a:b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Import data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Data source : Web URL via HTTP</a:t>
            </a: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URL </a:t>
            </a:r>
            <a:r>
              <a:rPr lang="en-US" altLang="ko-KR" sz="2800">
                <a:solidFill>
                  <a:srgbClr val="3D3C3E"/>
                </a:solidFill>
                <a:latin typeface="+mn-ea"/>
              </a:rPr>
              <a:t>: </a:t>
            </a:r>
            <a:r>
              <a:rPr lang="en-US" altLang="ko-KR" sz="2400">
                <a:solidFill>
                  <a:srgbClr val="3D3C3E"/>
                </a:solidFill>
                <a:latin typeface="+mn-ea"/>
              </a:rPr>
              <a:t>http://</a:t>
            </a:r>
            <a:r>
              <a:rPr lang="en-US" altLang="ko-KR" sz="2400" smtClean="0">
                <a:solidFill>
                  <a:srgbClr val="3D3C3E"/>
                </a:solidFill>
                <a:latin typeface="+mn-ea"/>
              </a:rPr>
              <a:t>mlr.cs.umass.edu/ml/machine-learning- databases/iris/iris.data</a:t>
            </a:r>
            <a:endParaRPr lang="en-US" altLang="ko-KR" sz="120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08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3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데이터 로딩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3" y="1823471"/>
            <a:ext cx="8406000" cy="4159219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28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4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데이터 전처리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Data Transformation / Manipulation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 smtClean="0">
                <a:solidFill>
                  <a:srgbClr val="3D3C3E"/>
                </a:solidFill>
                <a:latin typeface="+mn-ea"/>
              </a:rPr>
            </a:b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Clean Missing Data, Edit Metadata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Edit Metadata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Launch column selector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를 클릭한 후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All columns, All labels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선택</a:t>
            </a:r>
            <a:endParaRPr lang="en-US" altLang="ko-KR" sz="280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New column names : f1,f2,f3,f4,label</a:t>
            </a:r>
            <a:endParaRPr lang="en-US" altLang="ko-KR" sz="12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683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4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데이터 전처리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3" y="1803831"/>
            <a:ext cx="8406000" cy="416359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28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5 : Train/Test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나누기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Data Transformation / Sample and Split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</a:t>
            </a:r>
            <a:r>
              <a:rPr lang="en-US" altLang="ko-KR" sz="2800">
                <a:solidFill>
                  <a:srgbClr val="3D3C3E"/>
                </a:solidFill>
                <a:latin typeface="+mn-ea"/>
              </a:rPr>
              <a:t>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Split data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Fraction 0.8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으로 설정</a:t>
            </a:r>
            <a:endParaRPr lang="en-US" altLang="ko-KR" sz="12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38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5 : Train/Test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나누기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3" y="1713401"/>
            <a:ext cx="8327452" cy="4124691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6 : Model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생성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Machine Learning / Train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Train Model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, Machine Learning / Initialize Model / Classification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Multiclass Logistic Regression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 후 연결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85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6 : Model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생성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Machine Learning / Train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Train Model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, Machine Learning / Initialize Model / Classification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Multiclass Logistic Regression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 후 연결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Train Model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launch column selector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를 누르고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column names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label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입력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3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6 : Model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생성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14" y="1758461"/>
            <a:ext cx="8401289" cy="4148137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7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7 : Model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평가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왼쪽의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Machine Learning / Score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Score Model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, Machine Learning / Evaluate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에서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Evaluate Model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모듈 드래그 후 연결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Train Model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launch column selector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를 누르고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column names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에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label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입력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51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7 : Model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평가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3" y="1654284"/>
            <a:ext cx="8352131" cy="4136915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97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8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440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오른쪽 하단의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RUN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클릭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  <a:p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작업이 완료되면 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Evaluate Model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을 오른쪽 클릭</a:t>
            </a: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,</a:t>
            </a:r>
            <a:r>
              <a:rPr lang="en-US" altLang="ko-KR" sz="2800">
                <a:solidFill>
                  <a:srgbClr val="3D3C3E"/>
                </a:solidFill>
                <a:latin typeface="+mn-ea"/>
              </a:rPr>
              <a:t/>
            </a:r>
            <a:br>
              <a:rPr lang="en-US" altLang="ko-KR" sz="2800">
                <a:solidFill>
                  <a:srgbClr val="3D3C3E"/>
                </a:solidFill>
                <a:latin typeface="+mn-ea"/>
              </a:rPr>
            </a:br>
            <a:r>
              <a:rPr lang="en-US" altLang="ko-KR" sz="2800" smtClean="0">
                <a:solidFill>
                  <a:srgbClr val="3D3C3E"/>
                </a:solidFill>
                <a:latin typeface="+mn-ea"/>
              </a:rPr>
              <a:t>Evaluation results/Visualize </a:t>
            </a:r>
            <a:r>
              <a:rPr lang="ko-KR" altLang="en-US" sz="2800" smtClean="0">
                <a:solidFill>
                  <a:srgbClr val="3D3C3E"/>
                </a:solidFill>
                <a:latin typeface="+mn-ea"/>
              </a:rPr>
              <a:t>옵션 클릭</a:t>
            </a:r>
            <a:endParaRPr lang="en-US" altLang="ko-KR" sz="2800" smtClean="0">
              <a:solidFill>
                <a:srgbClr val="3D3C3E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15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8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3" y="1721873"/>
            <a:ext cx="8405020" cy="4163112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65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Step 8 : </a:t>
            </a:r>
            <a:r>
              <a:rPr lang="ko-KR" altLang="en-US" sz="4000" b="1" spc="-150" smtClean="0">
                <a:solidFill>
                  <a:schemeClr val="accent4">
                    <a:lumMod val="50000"/>
                  </a:schemeClr>
                </a:solidFill>
                <a:latin typeface="+mj-ea"/>
                <a:ea typeface="+mj-ea"/>
              </a:rPr>
              <a:t>실행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84" y="1433318"/>
            <a:ext cx="5213838" cy="4611607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20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425349"/>
            <a:ext cx="3474171" cy="1041751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4000" b="1" spc="-250" dirty="0" smtClean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감사합니다</a:t>
            </a:r>
            <a:endParaRPr lang="ko-KR" altLang="en-US" sz="40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39639D"/>
      </a:hlink>
      <a:folHlink>
        <a:srgbClr val="34343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4040</TotalTime>
  <Words>360</Words>
  <Application>Microsoft Office PowerPoint</Application>
  <PresentationFormat>화면 슬라이드 쇼(4:3)</PresentationFormat>
  <Paragraphs>115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나눔고딕</vt:lpstr>
      <vt:lpstr>Arial</vt:lpstr>
      <vt:lpstr>Wingdings</vt:lpstr>
      <vt:lpstr>Office 테마</vt:lpstr>
      <vt:lpstr>AzureML로 시작하는 Machine Learning</vt:lpstr>
      <vt:lpstr>Session</vt:lpstr>
      <vt:lpstr>Azure ML?</vt:lpstr>
      <vt:lpstr>예제 실습</vt:lpstr>
      <vt:lpstr>예제 실습</vt:lpstr>
      <vt:lpstr>Step 1 : 접속</vt:lpstr>
      <vt:lpstr>Step 1 : 접속</vt:lpstr>
      <vt:lpstr>Step 1 : 접속</vt:lpstr>
      <vt:lpstr>Step 2 : 실험 생성</vt:lpstr>
      <vt:lpstr>Step 2 : 실험 생성</vt:lpstr>
      <vt:lpstr>Step 2 : 실험 생성</vt:lpstr>
      <vt:lpstr>Step 3 : 데이터 로딩</vt:lpstr>
      <vt:lpstr>Step 3 : 데이터 로딩</vt:lpstr>
      <vt:lpstr>Step 4 : 데이터 전처리</vt:lpstr>
      <vt:lpstr>Step 4 : 데이터 전처리</vt:lpstr>
      <vt:lpstr>Step 5 : Train/Test 나누기</vt:lpstr>
      <vt:lpstr>Step 5 : Train/Test 나누기</vt:lpstr>
      <vt:lpstr>Step 6 : Model 생성</vt:lpstr>
      <vt:lpstr>Step 6 : Model 생성</vt:lpstr>
      <vt:lpstr>Step 6 : Model 생성</vt:lpstr>
      <vt:lpstr>Step 7 : Model 평가</vt:lpstr>
      <vt:lpstr>Step 7 : Model 평가</vt:lpstr>
      <vt:lpstr>Step 8 : 실행</vt:lpstr>
      <vt:lpstr>Step 8 : 실행</vt:lpstr>
      <vt:lpstr>Step 8 : 실행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나눔고딕B, 54pt</dc:title>
  <dc:creator>네이버 한글캠페인</dc:creator>
  <cp:lastModifiedBy>정태영</cp:lastModifiedBy>
  <cp:revision>253</cp:revision>
  <cp:lastPrinted>2011-08-28T13:13:29Z</cp:lastPrinted>
  <dcterms:created xsi:type="dcterms:W3CDTF">2011-08-24T01:05:33Z</dcterms:created>
  <dcterms:modified xsi:type="dcterms:W3CDTF">2016-11-29T08:44:03Z</dcterms:modified>
</cp:coreProperties>
</file>